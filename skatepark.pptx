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C107"/>
                </a:solidFill>
                <a:latin typeface="Arial"/>
              </a:rPr>
              <a:t>СОЦИАЛЬНЫЙ ПРОЕКТ · ЮЖНАЯ ОСЕТИЯ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600" b="1" i="0">
                <a:solidFill>
                  <a:srgbClr val="EAF0FA"/>
                </a:solidFill>
                <a:latin typeface="Arial"/>
              </a:rPr>
              <a:t>Скейт-парк</a:t>
            </a:r>
          </a:p>
          <a:p>
            <a:pPr>
              <a:spcAft>
                <a:spcPts val="0"/>
              </a:spcAft>
            </a:pPr>
            <a:r>
              <a:rPr sz="7600" b="1" i="0">
                <a:solidFill>
                  <a:srgbClr val="EAF0FA"/>
                </a:solidFill>
                <a:latin typeface="Arial"/>
              </a:rPr>
              <a:t>в </a:t>
            </a:r>
            <a:r>
              <a:rPr sz="7600" b="1" i="0">
                <a:solidFill>
                  <a:srgbClr val="FFC107"/>
                </a:solidFill>
                <a:latin typeface="Arial"/>
              </a:rPr>
              <a:t>Цхинвале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0"/>
            <a:ext cx="91440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8B9AB8"/>
                </a:solidFill>
                <a:latin typeface="Arial"/>
              </a:rPr>
              <a:t>Современное и безопасное пространство для досуга и спорта
детей и подростков города.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852160"/>
            <a:ext cx="4206240" cy="548640"/>
          </a:xfrm>
          <a:prstGeom prst="round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A1205"/>
                </a:solidFill>
                <a:latin typeface="Arial"/>
              </a:rPr>
              <a:t>BMX · Самокат · Скейтборд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C107"/>
                </a:solidFill>
                <a:latin typeface="Arial"/>
              </a:rP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 i="0">
                <a:solidFill>
                  <a:srgbClr val="EAF0FA"/>
                </a:solidFill>
                <a:latin typeface="Arial"/>
              </a:rPr>
              <a:t>Детям и подросткам</a:t>
            </a:r>
          </a:p>
          <a:p>
            <a:pPr algn="l">
              <a:spcAft>
                <a:spcPts val="0"/>
              </a:spcAft>
            </a:pPr>
            <a:r>
              <a:rPr sz="4200" b="1" i="0">
                <a:solidFill>
                  <a:srgbClr val="EAF0FA"/>
                </a:solidFill>
                <a:latin typeface="Arial"/>
              </a:rPr>
              <a:t>негде проводить время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0040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900" b="0" i="0">
                <a:solidFill>
                  <a:srgbClr val="EAF0FA"/>
                </a:solidFill>
                <a:latin typeface="Arial"/>
              </a:rPr>
              <a:t>В Цхинвале и в Южной Осетии в целом </a:t>
            </a:r>
            <a:r>
              <a:rPr sz="1900" b="1" i="0">
                <a:solidFill>
                  <a:srgbClr val="FFC107"/>
                </a:solidFill>
                <a:latin typeface="Arial"/>
              </a:rPr>
              <a:t>не развита инфраструктура для досуга</a:t>
            </a:r>
            <a:r>
              <a:rPr sz="1900" b="0" i="0">
                <a:solidFill>
                  <a:srgbClr val="EAF0FA"/>
                </a:solidFill>
                <a:latin typeface="Arial"/>
              </a:rPr>
              <a:t> молодёжи. Современных площадок для активного отдыха почти нет.</a:t>
            </a:r>
          </a:p>
          <a:p>
            <a:r>
              <a:rPr sz="1900" b="0" i="0">
                <a:solidFill>
                  <a:srgbClr val="EAF0FA"/>
                </a:solidFill>
                <a:latin typeface="Arial"/>
              </a:rPr>
              <a:t>В итоге дети катаются на оживлённых улицах, парковках и тротуарах — это </a:t>
            </a:r>
            <a:r>
              <a:rPr sz="1900" b="1" i="0">
                <a:solidFill>
                  <a:srgbClr val="FFC107"/>
                </a:solidFill>
                <a:latin typeface="Arial"/>
              </a:rPr>
              <a:t>опасно</a:t>
            </a:r>
            <a:r>
              <a:rPr sz="1900" b="0" i="0">
                <a:solidFill>
                  <a:srgbClr val="EAF0FA"/>
                </a:solidFill>
                <a:latin typeface="Arial"/>
              </a:rPr>
              <a:t> и для них, и для прохожих. Энергия молодёжи не находит здорового выхода.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C107"/>
                </a:solidFill>
                <a:latin typeface="Arial"/>
              </a:rPr>
              <a:t>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 i="0">
                <a:solidFill>
                  <a:srgbClr val="EAF0FA"/>
                </a:solidFill>
                <a:latin typeface="Arial"/>
              </a:rPr>
              <a:t>Построить современный</a:t>
            </a:r>
          </a:p>
          <a:p>
            <a:pPr algn="l">
              <a:spcAft>
                <a:spcPts val="0"/>
              </a:spcAft>
            </a:pPr>
            <a:r>
              <a:rPr sz="4200" b="1" i="0">
                <a:solidFill>
                  <a:srgbClr val="FFC107"/>
                </a:solidFill>
                <a:latin typeface="Arial"/>
              </a:rPr>
              <a:t>скейт-парк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383280"/>
            <a:ext cx="3410712" cy="265176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82880"/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C107"/>
                </a:solidFill>
                <a:latin typeface="Arial"/>
              </a:rPr>
              <a:t>▰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Качественное покрытие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B9AB8"/>
                </a:solidFill>
                <a:latin typeface="Arial"/>
              </a:rPr>
              <a:t>Рампы, фигуры и гладкое профессиональное основание.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3383280"/>
            <a:ext cx="3410712" cy="265176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82880"/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C107"/>
                </a:solidFill>
                <a:latin typeface="Arial"/>
              </a:rPr>
              <a:t>❖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Зона отдыха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B9AB8"/>
                </a:solidFill>
                <a:latin typeface="Arial"/>
              </a:rPr>
              <a:t>Скамейки, освещение, озеленение — место притяжения города.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64424" y="3383280"/>
            <a:ext cx="3410712" cy="265176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82880"/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C107"/>
                </a:solidFill>
                <a:latin typeface="Arial"/>
              </a:rPr>
              <a:t>◎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Для всех уровней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B9AB8"/>
                </a:solidFill>
                <a:latin typeface="Arial"/>
              </a:rPr>
              <a:t>От первых шагов новичка до тренировки сложных трюков.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C107"/>
                </a:solidFill>
                <a:latin typeface="Arial"/>
              </a:rPr>
              <a:t>СПОРТИВНЫЕ НАПРАВЛЕНИЯ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EAF0FA"/>
                </a:solidFill>
                <a:latin typeface="Arial"/>
              </a:rPr>
              <a:t>Три вида спорта на одной площадке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43200"/>
            <a:ext cx="3410712" cy="246888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82880"/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C107"/>
                </a:solidFill>
                <a:latin typeface="Arial"/>
              </a:rPr>
              <a:t>BMX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Велосипеды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B9AB8"/>
                </a:solidFill>
                <a:latin typeface="Arial"/>
              </a:rPr>
              <a:t>Трюковые велосипеды — сила, координация и зрелищность.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2743200"/>
            <a:ext cx="3410712" cy="246888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82880"/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C107"/>
                </a:solidFill>
                <a:latin typeface="Arial"/>
              </a:rPr>
              <a:t>◔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Трюковой самокат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B9AB8"/>
                </a:solidFill>
                <a:latin typeface="Arial"/>
              </a:rPr>
              <a:t>Самый популярный и доступный старт для детей.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64424" y="2743200"/>
            <a:ext cx="3410712" cy="246888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82880"/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C107"/>
                </a:solidFill>
                <a:latin typeface="Arial"/>
              </a:rPr>
              <a:t>▱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Скейтборд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B9AB8"/>
                </a:solidFill>
                <a:latin typeface="Arial"/>
              </a:rPr>
              <a:t>Классика уличного спорта: баланс и чувство тела.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7784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8B9AB8"/>
                </a:solidFill>
                <a:latin typeface="Arial"/>
              </a:rPr>
              <a:t>Дети осваивают новые спортивные снаряды и находят дело по душе.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C107"/>
                </a:solidFill>
                <a:latin typeface="Arial"/>
              </a:rPr>
              <a:t>ГЛАВНЫЙ ПРИОРИТЕТ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F5722"/>
                </a:solidFill>
                <a:latin typeface="Arial"/>
              </a:rPr>
              <a:t>Безопасность прежде всего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68880"/>
            <a:ext cx="502920" cy="502920"/>
          </a:xfrm>
          <a:prstGeom prst="round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1A1205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423160"/>
            <a:ext cx="9875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Защитная экипировка.  </a:t>
            </a:r>
            <a:r>
              <a:rPr sz="1400" b="0" i="0">
                <a:solidFill>
                  <a:srgbClr val="8B9AB8"/>
                </a:solidFill>
                <a:latin typeface="Arial"/>
              </a:rPr>
              <a:t>Шлемы, наколенники, налокотники и перчатки — обязательны для всех.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29000"/>
            <a:ext cx="502920" cy="502920"/>
          </a:xfrm>
          <a:prstGeom prst="round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1A1205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383280"/>
            <a:ext cx="9875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Безопасное покрытие.  </a:t>
            </a:r>
            <a:r>
              <a:rPr sz="1400" b="0" i="0">
                <a:solidFill>
                  <a:srgbClr val="8B9AB8"/>
                </a:solidFill>
                <a:latin typeface="Arial"/>
              </a:rPr>
              <a:t>Сертифицированные материалы, продуманные радиусы фигур, без острых углов.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89120"/>
            <a:ext cx="502920" cy="502920"/>
          </a:xfrm>
          <a:prstGeom prst="round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1A1205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343400"/>
            <a:ext cx="9875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Зонирование.  </a:t>
            </a:r>
            <a:r>
              <a:rPr sz="1400" b="0" i="0">
                <a:solidFill>
                  <a:srgbClr val="8B9AB8"/>
                </a:solidFill>
                <a:latin typeface="Arial"/>
              </a:rPr>
              <a:t>Раздельные зоны для новичков и опытных, чтобы потоки не пересекались.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349240"/>
            <a:ext cx="502920" cy="502920"/>
          </a:xfrm>
          <a:prstGeom prst="round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1A1205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303520"/>
            <a:ext cx="9875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Освещение и аптечка.  </a:t>
            </a:r>
            <a:r>
              <a:rPr sz="1400" b="0" i="0">
                <a:solidFill>
                  <a:srgbClr val="8B9AB8"/>
                </a:solidFill>
                <a:latin typeface="Arial"/>
              </a:rPr>
              <a:t>Хороший свет вечером и медпункт первой помощи прямо на месте.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C107"/>
                </a:solidFill>
                <a:latin typeface="Arial"/>
              </a:rPr>
              <a:t>КЛЮЧЕВАЯ РОЛЬ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200" b="1" i="0">
                <a:solidFill>
                  <a:srgbClr val="EAF0FA"/>
                </a:solidFill>
                <a:latin typeface="Arial"/>
              </a:rPr>
              <a:t>Нужен </a:t>
            </a:r>
            <a:r>
              <a:rPr sz="4200" b="1" i="0">
                <a:solidFill>
                  <a:srgbClr val="FFC107"/>
                </a:solidFill>
                <a:latin typeface="Arial"/>
              </a:rPr>
              <a:t>тренер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8B9AB8"/>
                </a:solidFill>
                <a:latin typeface="Arial"/>
              </a:rPr>
              <a:t>Без наставника спорт превращается в риск. Профессиональный тренер — основа безопасного и результативного парка.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108960"/>
            <a:ext cx="5175504" cy="160020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82880"/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C107"/>
                </a:solidFill>
                <a:latin typeface="Arial"/>
              </a:rPr>
              <a:t>▲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Правильная техника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B9AB8"/>
                </a:solidFill>
                <a:latin typeface="Arial"/>
              </a:rPr>
              <a:t>Учит трюкам и падениям так, чтобы избежать травм.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35624" y="3108960"/>
            <a:ext cx="5175504" cy="160020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82880"/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C107"/>
                </a:solidFill>
                <a:latin typeface="Arial"/>
              </a:rPr>
              <a:t>◉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Контроль и порядок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B9AB8"/>
                </a:solidFill>
                <a:latin typeface="Arial"/>
              </a:rPr>
              <a:t>Следит за дисциплиной, экипировкой и безопасностью на площадке.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892040"/>
            <a:ext cx="5175504" cy="160020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82880"/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C107"/>
                </a:solidFill>
                <a:latin typeface="Arial"/>
              </a:rPr>
              <a:t>★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Спортивные секции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B9AB8"/>
                </a:solidFill>
                <a:latin typeface="Arial"/>
              </a:rPr>
              <a:t>Группы, прогресс, соревнования и мотивация для детей.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5624" y="4892040"/>
            <a:ext cx="5175504" cy="160020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82880"/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C107"/>
                </a:solidFill>
                <a:latin typeface="Arial"/>
              </a:rPr>
              <a:t>♥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Наставничество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B9AB8"/>
                </a:solidFill>
                <a:latin typeface="Arial"/>
              </a:rPr>
              <a:t>Авторитетный взрослый, который направляет подростков.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C107"/>
                </a:solidFill>
                <a:latin typeface="Arial"/>
              </a:rPr>
              <a:t>СОЦИАЛЬНАЯ СФЕРА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EAF0FA"/>
                </a:solidFill>
                <a:latin typeface="Arial"/>
              </a:rPr>
              <a:t>Польза для города и его молодёжи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651760"/>
            <a:ext cx="3506724" cy="566928"/>
          </a:xfrm>
          <a:prstGeom prst="roundRect">
            <a:avLst/>
          </a:prstGeom>
          <a:solidFill>
            <a:srgbClr val="0F1628"/>
          </a:solidFill>
          <a:ln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EAF0FA"/>
                </a:solidFill>
                <a:latin typeface="Arial"/>
              </a:rPr>
              <a:t>Здоровье и спорт вместо улицы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5132" y="2651760"/>
            <a:ext cx="3296412" cy="566928"/>
          </a:xfrm>
          <a:prstGeom prst="roundRect">
            <a:avLst/>
          </a:prstGeom>
          <a:solidFill>
            <a:srgbClr val="0F1628"/>
          </a:solidFill>
          <a:ln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EAF0FA"/>
                </a:solidFill>
                <a:latin typeface="Arial"/>
              </a:rPr>
              <a:t>Меньше детской преступности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82712" y="2651760"/>
            <a:ext cx="3086100" cy="566928"/>
          </a:xfrm>
          <a:prstGeom prst="roundRect">
            <a:avLst/>
          </a:prstGeom>
          <a:solidFill>
            <a:srgbClr val="0F1628"/>
          </a:solidFill>
          <a:ln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EAF0FA"/>
                </a:solidFill>
                <a:latin typeface="Arial"/>
              </a:rPr>
              <a:t>Активный и полезный досуг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191256" cy="566928"/>
          </a:xfrm>
          <a:prstGeom prst="roundRect">
            <a:avLst/>
          </a:prstGeom>
          <a:solidFill>
            <a:srgbClr val="0F1628"/>
          </a:solidFill>
          <a:ln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EAF0FA"/>
                </a:solidFill>
                <a:latin typeface="Arial"/>
              </a:rPr>
              <a:t>Новые знакомства и команда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9664" y="3429000"/>
            <a:ext cx="2875788" cy="566928"/>
          </a:xfrm>
          <a:prstGeom prst="roundRect">
            <a:avLst/>
          </a:prstGeom>
          <a:solidFill>
            <a:srgbClr val="0F1628"/>
          </a:solidFill>
          <a:ln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EAF0FA"/>
                </a:solidFill>
                <a:latin typeface="Arial"/>
              </a:rPr>
              <a:t>Точка притяжения города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6620" y="3429000"/>
            <a:ext cx="2875788" cy="566928"/>
          </a:xfrm>
          <a:prstGeom prst="roundRect">
            <a:avLst/>
          </a:prstGeom>
          <a:solidFill>
            <a:srgbClr val="0F1628"/>
          </a:solidFill>
          <a:ln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EAF0FA"/>
                </a:solidFill>
                <a:latin typeface="Arial"/>
              </a:rPr>
              <a:t>Будущие чемпионы Осетии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206240"/>
            <a:ext cx="3296412" cy="566928"/>
          </a:xfrm>
          <a:prstGeom prst="roundRect">
            <a:avLst/>
          </a:prstGeom>
          <a:solidFill>
            <a:srgbClr val="0F1628"/>
          </a:solidFill>
          <a:ln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EAF0FA"/>
                </a:solidFill>
                <a:latin typeface="Arial"/>
              </a:rPr>
              <a:t>Гордость и развитие региона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692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8B9AB8"/>
                </a:solidFill>
                <a:latin typeface="Arial"/>
              </a:rPr>
              <a:t>Парк объединяет молодёжь вокруг здорового образа жизни и даёт детям цель.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C107"/>
                </a:solidFill>
                <a:latin typeface="Arial"/>
              </a:rPr>
              <a:t>ЭКОНОМИКА И БЮДЖЕТ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AF0FA"/>
                </a:solidFill>
                <a:latin typeface="Arial"/>
              </a:rPr>
              <a:t>Выгода для местного бизнеса и казны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EAF0FA"/>
                </a:solidFill>
                <a:latin typeface="Arial"/>
              </a:rPr>
              <a:t>С появлением парка вырастет спрос на спортивный инвентарь. Это </a:t>
            </a:r>
            <a:r>
              <a:rPr sz="1800" b="1" i="0">
                <a:solidFill>
                  <a:srgbClr val="FFC107"/>
                </a:solidFill>
                <a:latin typeface="Arial"/>
              </a:rPr>
              <a:t>возможность для местных торговцев</a:t>
            </a:r>
            <a:r>
              <a:rPr sz="1800" b="0" i="0">
                <a:solidFill>
                  <a:srgbClr val="EAF0FA"/>
                </a:solidFill>
                <a:latin typeface="Arial"/>
              </a:rPr>
              <a:t> продавать самокаты, скейтборды, BMX, запчасти и защитную экипировку.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657600"/>
            <a:ext cx="3410712" cy="2377440"/>
          </a:xfrm>
          <a:prstGeom prst="roundRect">
            <a:avLst/>
          </a:prstGeom>
          <a:solidFill>
            <a:srgbClr val="141D33"/>
          </a:solidFill>
          <a:ln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/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C107"/>
                </a:solidFill>
                <a:latin typeface="Arial"/>
              </a:rPr>
              <a:t>Рост продаж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8B9AB8"/>
                </a:solidFill>
                <a:latin typeface="Arial"/>
              </a:rPr>
              <a:t>Больше выручки у местных продавцов инвентаря и экипировки.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3657600"/>
            <a:ext cx="3410712" cy="2377440"/>
          </a:xfrm>
          <a:prstGeom prst="roundRect">
            <a:avLst/>
          </a:prstGeom>
          <a:solidFill>
            <a:srgbClr val="141D33"/>
          </a:solidFill>
          <a:ln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/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C107"/>
                </a:solidFill>
                <a:latin typeface="Arial"/>
              </a:rPr>
              <a:t>Рабочие места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8B9AB8"/>
                </a:solidFill>
                <a:latin typeface="Arial"/>
              </a:rPr>
              <a:t>Магазины, прокат, сервис, тренеры — новая занятость в городе.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64424" y="3657600"/>
            <a:ext cx="3410712" cy="2377440"/>
          </a:xfrm>
          <a:prstGeom prst="roundRect">
            <a:avLst/>
          </a:prstGeom>
          <a:solidFill>
            <a:srgbClr val="141D33"/>
          </a:solidFill>
          <a:ln w="19050">
            <a:solidFill>
              <a:srgbClr val="FFC1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/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C107"/>
                </a:solidFill>
                <a:latin typeface="Arial"/>
              </a:rPr>
              <a:t>В бюджет</a:t>
            </a:r>
          </a:p>
          <a:p>
            <a:r>
              <a:rPr sz="1500" b="0" i="0">
                <a:solidFill>
                  <a:srgbClr val="8B9AB8"/>
                </a:solidFill>
                <a:latin typeface="Arial"/>
              </a:rPr>
              <a:t>Налоги и сборы с торговли — </a:t>
            </a:r>
            <a:r>
              <a:rPr sz="1500" b="1" i="0">
                <a:solidFill>
                  <a:srgbClr val="FFFFFF"/>
                </a:solidFill>
                <a:latin typeface="Arial"/>
              </a:rPr>
              <a:t>средства в казну города</a:t>
            </a:r>
            <a:r>
              <a:rPr sz="1500" b="0" i="0">
                <a:solidFill>
                  <a:srgbClr val="8B9AB8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C107"/>
                </a:solidFill>
                <a:latin typeface="Arial"/>
              </a:rPr>
              <a:t>ИТОГ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EAF0FA"/>
                </a:solidFill>
                <a:latin typeface="Arial"/>
              </a:rPr>
              <a:t>Все плюсы проекта в одном месте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43200"/>
            <a:ext cx="5175504" cy="164592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82880"/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C107"/>
                </a:solidFill>
                <a:latin typeface="Arial"/>
              </a:rPr>
              <a:t>▱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Спорт и развитие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B9AB8"/>
                </a:solidFill>
                <a:latin typeface="Arial"/>
              </a:rPr>
              <a:t>BMX, самокат, скейтборд — новые навыки для детей.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35624" y="2743200"/>
            <a:ext cx="5175504" cy="164592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82880"/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C107"/>
                </a:solidFill>
                <a:latin typeface="Arial"/>
              </a:rPr>
              <a:t>◈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Безопасность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B9AB8"/>
                </a:solidFill>
                <a:latin typeface="Arial"/>
              </a:rPr>
              <a:t>Экипировка, зонирование, тренер и медпункт.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572000"/>
            <a:ext cx="5175504" cy="164592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82880"/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C107"/>
                </a:solidFill>
                <a:latin typeface="Arial"/>
              </a:rPr>
              <a:t>♥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Социальная польза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B9AB8"/>
                </a:solidFill>
                <a:latin typeface="Arial"/>
              </a:rPr>
              <a:t>Здоровый досуг и меньше уличных рисков.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4572000"/>
            <a:ext cx="5175504" cy="164592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43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82880" bIns="182880"/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C107"/>
                </a:solidFill>
                <a:latin typeface="Arial"/>
              </a:rPr>
              <a:t>₽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Доход в бюджет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B9AB8"/>
                </a:solidFill>
                <a:latin typeface="Arial"/>
              </a:rPr>
              <a:t>Торговля инвентарём и налоги в казну города.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C107"/>
                </a:solidFill>
                <a:latin typeface="Arial"/>
              </a:rPr>
              <a:t>ПРИЗЫВ К ДЕЙСТВИЮ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800" b="1" i="0">
                <a:solidFill>
                  <a:srgbClr val="EAF0FA"/>
                </a:solidFill>
                <a:latin typeface="Arial"/>
              </a:rPr>
              <a:t>Дадим детям</a:t>
            </a:r>
          </a:p>
          <a:p>
            <a:pPr algn="l">
              <a:spcAft>
                <a:spcPts val="0"/>
              </a:spcAft>
            </a:pPr>
            <a:r>
              <a:rPr sz="5800" b="1" i="0">
                <a:solidFill>
                  <a:srgbClr val="FFC107"/>
                </a:solidFill>
                <a:latin typeface="Arial"/>
              </a:rPr>
              <a:t>место для роста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114800"/>
            <a:ext cx="73152" cy="11887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114800"/>
            <a:ext cx="91440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1">
                <a:solidFill>
                  <a:srgbClr val="EAF0FA"/>
                </a:solidFill>
                <a:latin typeface="Arial"/>
              </a:rPr>
              <a:t>«Скейт-парк — это инвестиция в здоровое, активное
и успешное будущее Южной Осетии».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669280"/>
            <a:ext cx="3108960" cy="594360"/>
          </a:xfrm>
          <a:prstGeom prst="round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A1205"/>
                </a:solidFill>
                <a:latin typeface="Arial"/>
              </a:rPr>
              <a:t>Поддержать проект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5669280"/>
            <a:ext cx="3657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8B9AB8"/>
                </a:solidFill>
                <a:latin typeface="Arial"/>
              </a:rPr>
              <a:t>Цхинвал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