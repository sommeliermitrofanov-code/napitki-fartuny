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847" y="0"/>
            <a:ext cx="10668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649224"/>
            <a:ext cx="310896" cy="38100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566928"/>
            <a:ext cx="7315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C107"/>
                </a:solidFill>
                <a:latin typeface="Arial"/>
              </a:rPr>
              <a:t>СОЦИАЛЬНЫЙ ПРОЕКТ · ЮЖНАЯ ОСЕТИЯ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100584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0" b="1" i="0">
                <a:solidFill>
                  <a:srgbClr val="EAF0FA"/>
                </a:solidFill>
                <a:latin typeface="Arial"/>
              </a:rPr>
              <a:t>Скейт-парк</a:t>
            </a:r>
          </a:p>
          <a:p>
            <a:pPr>
              <a:spcAft>
                <a:spcPts val="0"/>
              </a:spcAft>
            </a:pPr>
            <a:r>
              <a:rPr sz="7000" b="1" i="0">
                <a:solidFill>
                  <a:srgbClr val="EAF0FA"/>
                </a:solidFill>
                <a:latin typeface="Arial"/>
              </a:rPr>
              <a:t>в </a:t>
            </a:r>
            <a:r>
              <a:rPr sz="7000" b="1" i="0">
                <a:solidFill>
                  <a:srgbClr val="FFC107"/>
                </a:solidFill>
                <a:latin typeface="Arial"/>
              </a:rPr>
              <a:t>Цхинвале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74920"/>
            <a:ext cx="7315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8B9AB8"/>
                </a:solidFill>
                <a:latin typeface="Arial"/>
              </a:rPr>
              <a:t>Современное и безопасное пространство для досуга
и спорта детей и подростков города.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989320"/>
            <a:ext cx="4114800" cy="548640"/>
          </a:xfrm>
          <a:prstGeom prst="round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1A1205"/>
                </a:solidFill>
                <a:latin typeface="Arial"/>
              </a:rPr>
              <a:t>BMX · Самокат · Скейтборд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649224"/>
            <a:ext cx="310896" cy="38100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566928"/>
            <a:ext cx="7315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C107"/>
                </a:solidFill>
                <a:latin typeface="Arial"/>
              </a:rPr>
              <a:t>ПРОБЛЕМА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55778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EAF0FA"/>
                </a:solidFill>
                <a:latin typeface="Arial"/>
              </a:rPr>
              <a:t>Детям и подросткам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EAF0FA"/>
                </a:solidFill>
                <a:latin typeface="Arial"/>
              </a:rPr>
              <a:t>негде проводить время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108960"/>
            <a:ext cx="521208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FF5722"/>
                </a:solidFill>
                <a:latin typeface="Arial"/>
              </a:rPr>
              <a:t>●  </a:t>
            </a:r>
            <a:r>
              <a:rPr sz="1600" b="1" i="0">
                <a:solidFill>
                  <a:srgbClr val="FFFFFF"/>
                </a:solidFill>
                <a:latin typeface="Arial"/>
              </a:rPr>
              <a:t>Нет инфраструктуры.  </a:t>
            </a:r>
            <a:r>
              <a:rPr sz="1500" b="0" i="0">
                <a:solidFill>
                  <a:srgbClr val="8B9AB8"/>
                </a:solidFill>
                <a:latin typeface="Arial"/>
              </a:rPr>
              <a:t>В Цхинвале почти нет современных площадок для активного отдыха молодёжи.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FF5722"/>
                </a:solidFill>
                <a:latin typeface="Arial"/>
              </a:rPr>
              <a:t>●  </a:t>
            </a:r>
            <a:r>
              <a:rPr sz="1600" b="1" i="0">
                <a:solidFill>
                  <a:srgbClr val="FFFFFF"/>
                </a:solidFill>
                <a:latin typeface="Arial"/>
              </a:rPr>
              <a:t>Опасно.  </a:t>
            </a:r>
            <a:r>
              <a:rPr sz="1500" b="0" i="0">
                <a:solidFill>
                  <a:srgbClr val="8B9AB8"/>
                </a:solidFill>
                <a:latin typeface="Arial"/>
              </a:rPr>
              <a:t>Дети катаются на улицах, парковках и тротуарах — риск для них и прохожих.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FF5722"/>
                </a:solidFill>
                <a:latin typeface="Arial"/>
              </a:rPr>
              <a:t>●  </a:t>
            </a:r>
            <a:r>
              <a:rPr sz="1600" b="1" i="0">
                <a:solidFill>
                  <a:srgbClr val="FFFFFF"/>
                </a:solidFill>
                <a:latin typeface="Arial"/>
              </a:rPr>
              <a:t>Энергия без выхода.  </a:t>
            </a:r>
            <a:r>
              <a:rPr sz="1500" b="0" i="0">
                <a:solidFill>
                  <a:srgbClr val="8B9AB8"/>
                </a:solidFill>
                <a:latin typeface="Arial"/>
              </a:rPr>
              <a:t>У подростков нет места для здорового и полезного досуга.</a:t>
            </a:r>
          </a:p>
        </p:txBody>
      </p:sp>
      <p:pic>
        <p:nvPicPr>
          <p:cNvPr id="7" name="Picture 6" descr="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874519"/>
            <a:ext cx="5212080" cy="3350622"/>
          </a:xfrm>
          <a:prstGeom prst="rect">
            <a:avLst/>
          </a:prstGeom>
          <a:ln w="15875">
            <a:solidFill>
              <a:srgbClr val="243150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649224"/>
            <a:ext cx="310896" cy="38100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566928"/>
            <a:ext cx="7315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C107"/>
                </a:solidFill>
                <a:latin typeface="Arial"/>
              </a:rPr>
              <a:t>РЕШЕНИЕ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55778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EAF0FA"/>
                </a:solidFill>
                <a:latin typeface="Arial"/>
              </a:rPr>
              <a:t>Построить современный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C107"/>
                </a:solidFill>
                <a:latin typeface="Arial"/>
              </a:rPr>
              <a:t>скейт-парк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108960"/>
            <a:ext cx="521208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FF5722"/>
                </a:solidFill>
                <a:latin typeface="Arial"/>
              </a:rPr>
              <a:t>●  </a:t>
            </a:r>
            <a:r>
              <a:rPr sz="1600" b="1" i="0">
                <a:solidFill>
                  <a:srgbClr val="FFFFFF"/>
                </a:solidFill>
                <a:latin typeface="Arial"/>
              </a:rPr>
              <a:t>Качественное покрытие.  </a:t>
            </a:r>
            <a:r>
              <a:rPr sz="1500" b="0" i="0">
                <a:solidFill>
                  <a:srgbClr val="8B9AB8"/>
                </a:solidFill>
                <a:latin typeface="Arial"/>
              </a:rPr>
              <a:t>Рампы, фигуры и гладкое профессиональное основание.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FF5722"/>
                </a:solidFill>
                <a:latin typeface="Arial"/>
              </a:rPr>
              <a:t>●  </a:t>
            </a:r>
            <a:r>
              <a:rPr sz="1600" b="1" i="0">
                <a:solidFill>
                  <a:srgbClr val="FFFFFF"/>
                </a:solidFill>
                <a:latin typeface="Arial"/>
              </a:rPr>
              <a:t>Зона отдыха.  </a:t>
            </a:r>
            <a:r>
              <a:rPr sz="1500" b="0" i="0">
                <a:solidFill>
                  <a:srgbClr val="8B9AB8"/>
                </a:solidFill>
                <a:latin typeface="Arial"/>
              </a:rPr>
              <a:t>Скамейки, освещение и озеленение — место притяжения города.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FF5722"/>
                </a:solidFill>
                <a:latin typeface="Arial"/>
              </a:rPr>
              <a:t>●  </a:t>
            </a:r>
            <a:r>
              <a:rPr sz="1600" b="1" i="0">
                <a:solidFill>
                  <a:srgbClr val="FFFFFF"/>
                </a:solidFill>
                <a:latin typeface="Arial"/>
              </a:rPr>
              <a:t>Для всех уровней.  </a:t>
            </a:r>
            <a:r>
              <a:rPr sz="1500" b="0" i="0">
                <a:solidFill>
                  <a:srgbClr val="8B9AB8"/>
                </a:solidFill>
                <a:latin typeface="Arial"/>
              </a:rPr>
              <a:t>От первых шагов новичка до тренировки сложных трюков.</a:t>
            </a:r>
          </a:p>
        </p:txBody>
      </p:sp>
      <p:pic>
        <p:nvPicPr>
          <p:cNvPr id="7" name="Picture 6" descr="s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874519"/>
            <a:ext cx="5212080" cy="3350622"/>
          </a:xfrm>
          <a:prstGeom prst="rect">
            <a:avLst/>
          </a:prstGeom>
          <a:ln w="15875">
            <a:solidFill>
              <a:srgbClr val="243150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649224"/>
            <a:ext cx="310896" cy="38100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566928"/>
            <a:ext cx="7315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C107"/>
                </a:solidFill>
                <a:latin typeface="Arial"/>
              </a:rPr>
              <a:t>СПОРТИВНЫЕ НАПРАВЛЕНИЯ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55778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EAF0FA"/>
                </a:solidFill>
                <a:latin typeface="Arial"/>
              </a:rPr>
              <a:t>Три вида спорта на одной площадке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468880"/>
            <a:ext cx="3611880" cy="3749039"/>
          </a:xfrm>
          <a:prstGeom prst="roundRect">
            <a:avLst/>
          </a:prstGeom>
          <a:solidFill>
            <a:srgbClr val="141D33"/>
          </a:solidFill>
          <a:ln>
            <a:solidFill>
              <a:srgbClr val="2431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_bm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578608"/>
            <a:ext cx="3392424" cy="282930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05840" y="5481066"/>
            <a:ext cx="3154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BMX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8B9AB8"/>
                </a:solidFill>
                <a:latin typeface="Arial"/>
              </a:rPr>
              <a:t>Сила, координация и зрелищность.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90288" y="2468880"/>
            <a:ext cx="3611880" cy="3749039"/>
          </a:xfrm>
          <a:prstGeom prst="roundRect">
            <a:avLst/>
          </a:prstGeom>
          <a:solidFill>
            <a:srgbClr val="141D33"/>
          </a:solidFill>
          <a:ln>
            <a:solidFill>
              <a:srgbClr val="2431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_sc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016" y="2578608"/>
            <a:ext cx="3392424" cy="282930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18888" y="5481066"/>
            <a:ext cx="3154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Трюковой самокат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8B9AB8"/>
                </a:solidFill>
                <a:latin typeface="Arial"/>
              </a:rPr>
              <a:t>Доступный старт для детей.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03336" y="2468880"/>
            <a:ext cx="3611880" cy="3749039"/>
          </a:xfrm>
          <a:prstGeom prst="roundRect">
            <a:avLst/>
          </a:prstGeom>
          <a:solidFill>
            <a:srgbClr val="141D33"/>
          </a:solidFill>
          <a:ln>
            <a:solidFill>
              <a:srgbClr val="2431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_sk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3064" y="2578608"/>
            <a:ext cx="3392424" cy="282930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631936" y="5481066"/>
            <a:ext cx="3154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Скейтборд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8B9AB8"/>
                </a:solidFill>
                <a:latin typeface="Arial"/>
              </a:rPr>
              <a:t>Баланс и чувство тела.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35508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FFC107"/>
                </a:solidFill>
                <a:latin typeface="Arial"/>
              </a:rPr>
              <a:t>Дети осваивают новые спортивные снаряды и находят дело по душе.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649224"/>
            <a:ext cx="310896" cy="38100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566928"/>
            <a:ext cx="7315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C107"/>
                </a:solidFill>
                <a:latin typeface="Arial"/>
              </a:rPr>
              <a:t>ГЛАВНЫЙ ПРИОРИТЕТ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55778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5722"/>
                </a:solidFill>
                <a:latin typeface="Arial"/>
              </a:rPr>
              <a:t>Безопасность прежде всего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31720"/>
            <a:ext cx="457200" cy="457200"/>
          </a:xfrm>
          <a:prstGeom prst="round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0A0E1A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286000"/>
            <a:ext cx="48463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Защитная экипировка. </a:t>
            </a:r>
            <a:r>
              <a:rPr sz="1350" b="0" i="0">
                <a:solidFill>
                  <a:srgbClr val="8B9AB8"/>
                </a:solidFill>
                <a:latin typeface="Arial"/>
              </a:rPr>
              <a:t>Шлемы, наколенники, налокотники, перчатки — для всех.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64408"/>
            <a:ext cx="457200" cy="457200"/>
          </a:xfrm>
          <a:prstGeom prst="round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0A0E1A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3218688"/>
            <a:ext cx="48463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Безопасное покрытие. </a:t>
            </a:r>
            <a:r>
              <a:rPr sz="1350" b="0" i="0">
                <a:solidFill>
                  <a:srgbClr val="8B9AB8"/>
                </a:solidFill>
                <a:latin typeface="Arial"/>
              </a:rPr>
              <a:t>Сертифицированные материалы, без острых углов.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197096"/>
            <a:ext cx="457200" cy="457200"/>
          </a:xfrm>
          <a:prstGeom prst="round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0A0E1A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4151376"/>
            <a:ext cx="48463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Зонирование. </a:t>
            </a:r>
            <a:r>
              <a:rPr sz="1350" b="0" i="0">
                <a:solidFill>
                  <a:srgbClr val="8B9AB8"/>
                </a:solidFill>
                <a:latin typeface="Arial"/>
              </a:rPr>
              <a:t>Раздельные зоны для новичков и опытных.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129784"/>
            <a:ext cx="457200" cy="457200"/>
          </a:xfrm>
          <a:prstGeom prst="round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0A0E1A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5084064"/>
            <a:ext cx="48463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Освещение и аптечка. </a:t>
            </a:r>
            <a:r>
              <a:rPr sz="1350" b="0" i="0">
                <a:solidFill>
                  <a:srgbClr val="8B9AB8"/>
                </a:solidFill>
                <a:latin typeface="Arial"/>
              </a:rPr>
              <a:t>Свет вечером и медпункт первой помощи на месте.</a:t>
            </a:r>
          </a:p>
        </p:txBody>
      </p:sp>
      <p:pic>
        <p:nvPicPr>
          <p:cNvPr id="14" name="Picture 13" descr="safe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194560"/>
            <a:ext cx="5212080" cy="3350622"/>
          </a:xfrm>
          <a:prstGeom prst="rect">
            <a:avLst/>
          </a:prstGeom>
          <a:ln w="15875">
            <a:solidFill>
              <a:srgbClr val="243150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649224"/>
            <a:ext cx="310896" cy="38100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566928"/>
            <a:ext cx="7315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C107"/>
                </a:solidFill>
                <a:latin typeface="Arial"/>
              </a:rPr>
              <a:t>КЛЮЧЕВАЯ РОЛЬ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5486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 b="1" i="0">
                <a:solidFill>
                  <a:srgbClr val="EAF0FA"/>
                </a:solidFill>
                <a:latin typeface="Arial"/>
              </a:rPr>
              <a:t>Нужен </a:t>
            </a:r>
            <a:r>
              <a:rPr sz="4000" b="1" i="0">
                <a:solidFill>
                  <a:srgbClr val="FFC107"/>
                </a:solidFill>
                <a:latin typeface="Arial"/>
              </a:rPr>
              <a:t>тренер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5212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8B9AB8"/>
                </a:solidFill>
                <a:latin typeface="Arial"/>
              </a:rPr>
              <a:t>Без наставника спорт превращается в риск. Тренер — основа безопасного и результативного парка.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00400"/>
            <a:ext cx="521208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FF5722"/>
                </a:solidFill>
                <a:latin typeface="Arial"/>
              </a:rPr>
              <a:t>●  </a:t>
            </a:r>
            <a:r>
              <a:rPr sz="1600" b="1" i="0">
                <a:solidFill>
                  <a:srgbClr val="FFFFFF"/>
                </a:solidFill>
                <a:latin typeface="Arial"/>
              </a:rPr>
              <a:t>Правильная техника.  </a:t>
            </a:r>
            <a:r>
              <a:rPr sz="1500" b="0" i="0">
                <a:solidFill>
                  <a:srgbClr val="8B9AB8"/>
                </a:solidFill>
                <a:latin typeface="Arial"/>
              </a:rPr>
              <a:t>Учит трюкам и падениям так, чтобы избежать травм.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FF5722"/>
                </a:solidFill>
                <a:latin typeface="Arial"/>
              </a:rPr>
              <a:t>●  </a:t>
            </a:r>
            <a:r>
              <a:rPr sz="1600" b="1" i="0">
                <a:solidFill>
                  <a:srgbClr val="FFFFFF"/>
                </a:solidFill>
                <a:latin typeface="Arial"/>
              </a:rPr>
              <a:t>Контроль и порядок.  </a:t>
            </a:r>
            <a:r>
              <a:rPr sz="1500" b="0" i="0">
                <a:solidFill>
                  <a:srgbClr val="8B9AB8"/>
                </a:solidFill>
                <a:latin typeface="Arial"/>
              </a:rPr>
              <a:t>Следит за дисциплиной и экипировкой на площадке.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FF5722"/>
                </a:solidFill>
                <a:latin typeface="Arial"/>
              </a:rPr>
              <a:t>●  </a:t>
            </a:r>
            <a:r>
              <a:rPr sz="1600" b="1" i="0">
                <a:solidFill>
                  <a:srgbClr val="FFFFFF"/>
                </a:solidFill>
                <a:latin typeface="Arial"/>
              </a:rPr>
              <a:t>Спортивные секции.  </a:t>
            </a:r>
            <a:r>
              <a:rPr sz="1500" b="0" i="0">
                <a:solidFill>
                  <a:srgbClr val="8B9AB8"/>
                </a:solidFill>
                <a:latin typeface="Arial"/>
              </a:rPr>
              <a:t>Группы, прогресс, соревнования и мотивация.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FF5722"/>
                </a:solidFill>
                <a:latin typeface="Arial"/>
              </a:rPr>
              <a:t>●  </a:t>
            </a:r>
            <a:r>
              <a:rPr sz="1600" b="1" i="0">
                <a:solidFill>
                  <a:srgbClr val="FFFFFF"/>
                </a:solidFill>
                <a:latin typeface="Arial"/>
              </a:rPr>
              <a:t>Наставничество.  </a:t>
            </a:r>
            <a:r>
              <a:rPr sz="1500" b="0" i="0">
                <a:solidFill>
                  <a:srgbClr val="8B9AB8"/>
                </a:solidFill>
                <a:latin typeface="Arial"/>
              </a:rPr>
              <a:t>Авторитетный взрослый, который направляет ребят.</a:t>
            </a:r>
          </a:p>
        </p:txBody>
      </p:sp>
      <p:pic>
        <p:nvPicPr>
          <p:cNvPr id="8" name="Picture 7" descr="coa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874519"/>
            <a:ext cx="5212080" cy="3350622"/>
          </a:xfrm>
          <a:prstGeom prst="rect">
            <a:avLst/>
          </a:prstGeom>
          <a:ln w="15875">
            <a:solidFill>
              <a:srgbClr val="243150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649224"/>
            <a:ext cx="310896" cy="38100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566928"/>
            <a:ext cx="7315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C107"/>
                </a:solidFill>
                <a:latin typeface="Arial"/>
              </a:rPr>
              <a:t>СОЦИАЛЬНАЯ СФЕРА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55778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EAF0FA"/>
                </a:solidFill>
                <a:latin typeface="Arial"/>
              </a:rPr>
              <a:t>Польза для города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EAF0FA"/>
                </a:solidFill>
                <a:latin typeface="Arial"/>
              </a:rPr>
              <a:t>и его молодёжи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3321100" cy="502920"/>
          </a:xfrm>
          <a:prstGeom prst="roundRect">
            <a:avLst/>
          </a:prstGeom>
          <a:solidFill>
            <a:srgbClr val="0F1628"/>
          </a:solidFill>
          <a:ln>
            <a:solidFill>
              <a:srgbClr val="2431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 i="0">
                <a:solidFill>
                  <a:srgbClr val="EAF0FA"/>
                </a:solidFill>
                <a:latin typeface="Arial"/>
              </a:rPr>
              <a:t>Здоровье и спорт вместо улицы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944368"/>
            <a:ext cx="3123590" cy="502920"/>
          </a:xfrm>
          <a:prstGeom prst="roundRect">
            <a:avLst/>
          </a:prstGeom>
          <a:solidFill>
            <a:srgbClr val="0F1628"/>
          </a:solidFill>
          <a:ln>
            <a:solidFill>
              <a:srgbClr val="2431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 i="0">
                <a:solidFill>
                  <a:srgbClr val="EAF0FA"/>
                </a:solidFill>
                <a:latin typeface="Arial"/>
              </a:rPr>
              <a:t>Меньше детской преступности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511296"/>
            <a:ext cx="2728569" cy="502920"/>
          </a:xfrm>
          <a:prstGeom prst="roundRect">
            <a:avLst/>
          </a:prstGeom>
          <a:solidFill>
            <a:srgbClr val="0F1628"/>
          </a:solidFill>
          <a:ln>
            <a:solidFill>
              <a:srgbClr val="2431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 i="0">
                <a:solidFill>
                  <a:srgbClr val="EAF0FA"/>
                </a:solidFill>
                <a:latin typeface="Arial"/>
              </a:rPr>
              <a:t>Активный полезный досуг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078224"/>
            <a:ext cx="3024835" cy="502920"/>
          </a:xfrm>
          <a:prstGeom prst="roundRect">
            <a:avLst/>
          </a:prstGeom>
          <a:solidFill>
            <a:srgbClr val="0F1628"/>
          </a:solidFill>
          <a:ln>
            <a:solidFill>
              <a:srgbClr val="2431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 i="0">
                <a:solidFill>
                  <a:srgbClr val="EAF0FA"/>
                </a:solidFill>
                <a:latin typeface="Arial"/>
              </a:rPr>
              <a:t>Новые знакомства и команда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645152"/>
            <a:ext cx="2728569" cy="502920"/>
          </a:xfrm>
          <a:prstGeom prst="roundRect">
            <a:avLst/>
          </a:prstGeom>
          <a:solidFill>
            <a:srgbClr val="0F1628"/>
          </a:solidFill>
          <a:ln>
            <a:solidFill>
              <a:srgbClr val="2431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 i="0">
                <a:solidFill>
                  <a:srgbClr val="EAF0FA"/>
                </a:solidFill>
                <a:latin typeface="Arial"/>
              </a:rPr>
              <a:t>Точка притяжения города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212080"/>
            <a:ext cx="2728569" cy="502920"/>
          </a:xfrm>
          <a:prstGeom prst="roundRect">
            <a:avLst/>
          </a:prstGeom>
          <a:solidFill>
            <a:srgbClr val="0F1628"/>
          </a:solidFill>
          <a:ln>
            <a:solidFill>
              <a:srgbClr val="2431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 i="0">
                <a:solidFill>
                  <a:srgbClr val="EAF0FA"/>
                </a:solidFill>
                <a:latin typeface="Arial"/>
              </a:rPr>
              <a:t>Будущие чемпионы Осетии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779008"/>
            <a:ext cx="3123590" cy="502920"/>
          </a:xfrm>
          <a:prstGeom prst="roundRect">
            <a:avLst/>
          </a:prstGeom>
          <a:solidFill>
            <a:srgbClr val="0F1628"/>
          </a:solidFill>
          <a:ln>
            <a:solidFill>
              <a:srgbClr val="2431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 i="0">
                <a:solidFill>
                  <a:srgbClr val="EAF0FA"/>
                </a:solidFill>
                <a:latin typeface="Arial"/>
              </a:rPr>
              <a:t>Гордость и развитие региона</a:t>
            </a:r>
          </a:p>
        </p:txBody>
      </p:sp>
      <p:pic>
        <p:nvPicPr>
          <p:cNvPr id="13" name="Picture 12" descr="so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874519"/>
            <a:ext cx="5212080" cy="3350622"/>
          </a:xfrm>
          <a:prstGeom prst="rect">
            <a:avLst/>
          </a:prstGeom>
          <a:ln w="15875">
            <a:solidFill>
              <a:srgbClr val="243150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649224"/>
            <a:ext cx="310896" cy="38100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566928"/>
            <a:ext cx="7315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C107"/>
                </a:solidFill>
                <a:latin typeface="Arial"/>
              </a:rPr>
              <a:t>ЭКОНОМИКА И БЮДЖЕТ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55778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EAF0FA"/>
                </a:solidFill>
                <a:latin typeface="Arial"/>
              </a:rPr>
              <a:t>Выгода для бизнеса и казны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43200"/>
            <a:ext cx="521208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FF5722"/>
                </a:solidFill>
                <a:latin typeface="Arial"/>
              </a:rPr>
              <a:t>●  </a:t>
            </a:r>
            <a:r>
              <a:rPr sz="1600" b="1" i="0">
                <a:solidFill>
                  <a:srgbClr val="FFFFFF"/>
                </a:solidFill>
                <a:latin typeface="Arial"/>
              </a:rPr>
              <a:t>Рост продаж.  </a:t>
            </a:r>
            <a:r>
              <a:rPr sz="1500" b="0" i="0">
                <a:solidFill>
                  <a:srgbClr val="8B9AB8"/>
                </a:solidFill>
                <a:latin typeface="Arial"/>
              </a:rPr>
              <a:t>Местные торговцы продают самокаты, скейты, BMX, запчасти и защиту.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FF5722"/>
                </a:solidFill>
                <a:latin typeface="Arial"/>
              </a:rPr>
              <a:t>●  </a:t>
            </a:r>
            <a:r>
              <a:rPr sz="1600" b="1" i="0">
                <a:solidFill>
                  <a:srgbClr val="FFFFFF"/>
                </a:solidFill>
                <a:latin typeface="Arial"/>
              </a:rPr>
              <a:t>Новые рабочие места.  </a:t>
            </a:r>
            <a:r>
              <a:rPr sz="1500" b="0" i="0">
                <a:solidFill>
                  <a:srgbClr val="8B9AB8"/>
                </a:solidFill>
                <a:latin typeface="Arial"/>
              </a:rPr>
              <a:t>Магазины, прокат, сервис и тренеры.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FF5722"/>
                </a:solidFill>
                <a:latin typeface="Arial"/>
              </a:rPr>
              <a:t>●  </a:t>
            </a:r>
            <a:r>
              <a:rPr sz="1600" b="1" i="0">
                <a:solidFill>
                  <a:srgbClr val="FFFFFF"/>
                </a:solidFill>
                <a:latin typeface="Arial"/>
              </a:rPr>
              <a:t>Средства в бюджет.  </a:t>
            </a:r>
            <a:r>
              <a:rPr sz="1500" b="0" i="0">
                <a:solidFill>
                  <a:srgbClr val="8B9AB8"/>
                </a:solidFill>
                <a:latin typeface="Arial"/>
              </a:rPr>
              <a:t>Налоги и сборы с торговли пополняют казну города.</a:t>
            </a:r>
          </a:p>
        </p:txBody>
      </p:sp>
      <p:pic>
        <p:nvPicPr>
          <p:cNvPr id="7" name="Picture 6" descr="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874519"/>
            <a:ext cx="5212080" cy="3350622"/>
          </a:xfrm>
          <a:prstGeom prst="rect">
            <a:avLst/>
          </a:prstGeom>
          <a:ln w="15875">
            <a:solidFill>
              <a:srgbClr val="243150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649224"/>
            <a:ext cx="310896" cy="38100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566928"/>
            <a:ext cx="7315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C107"/>
                </a:solidFill>
                <a:latin typeface="Arial"/>
              </a:rPr>
              <a:t>ИТОГ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55778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EAF0FA"/>
                </a:solidFill>
                <a:latin typeface="Arial"/>
              </a:rPr>
              <a:t>Все плюсы проекта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68880"/>
            <a:ext cx="521208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FF5722"/>
                </a:solidFill>
                <a:latin typeface="Arial"/>
              </a:rPr>
              <a:t>●  </a:t>
            </a:r>
            <a:r>
              <a:rPr sz="1600" b="1" i="0">
                <a:solidFill>
                  <a:srgbClr val="FFFFFF"/>
                </a:solidFill>
                <a:latin typeface="Arial"/>
              </a:rPr>
              <a:t>Спорт и развитие.  </a:t>
            </a:r>
            <a:r>
              <a:rPr sz="1500" b="0" i="0">
                <a:solidFill>
                  <a:srgbClr val="8B9AB8"/>
                </a:solidFill>
                <a:latin typeface="Arial"/>
              </a:rPr>
              <a:t>BMX, самокат, скейтборд — новые навыки для детей.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FF5722"/>
                </a:solidFill>
                <a:latin typeface="Arial"/>
              </a:rPr>
              <a:t>●  </a:t>
            </a:r>
            <a:r>
              <a:rPr sz="1600" b="1" i="0">
                <a:solidFill>
                  <a:srgbClr val="FFFFFF"/>
                </a:solidFill>
                <a:latin typeface="Arial"/>
              </a:rPr>
              <a:t>Безопасность.  </a:t>
            </a:r>
            <a:r>
              <a:rPr sz="1500" b="0" i="0">
                <a:solidFill>
                  <a:srgbClr val="8B9AB8"/>
                </a:solidFill>
                <a:latin typeface="Arial"/>
              </a:rPr>
              <a:t>Экипировка, зонирование, тренер и медпункт.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FF5722"/>
                </a:solidFill>
                <a:latin typeface="Arial"/>
              </a:rPr>
              <a:t>●  </a:t>
            </a:r>
            <a:r>
              <a:rPr sz="1600" b="1" i="0">
                <a:solidFill>
                  <a:srgbClr val="FFFFFF"/>
                </a:solidFill>
                <a:latin typeface="Arial"/>
              </a:rPr>
              <a:t>Социальная польза.  </a:t>
            </a:r>
            <a:r>
              <a:rPr sz="1500" b="0" i="0">
                <a:solidFill>
                  <a:srgbClr val="8B9AB8"/>
                </a:solidFill>
                <a:latin typeface="Arial"/>
              </a:rPr>
              <a:t>Здоровый досуг и меньше уличных рисков.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300" b="1" i="0">
                <a:solidFill>
                  <a:srgbClr val="FF5722"/>
                </a:solidFill>
                <a:latin typeface="Arial"/>
              </a:rPr>
              <a:t>●  </a:t>
            </a:r>
            <a:r>
              <a:rPr sz="1600" b="1" i="0">
                <a:solidFill>
                  <a:srgbClr val="FFFFFF"/>
                </a:solidFill>
                <a:latin typeface="Arial"/>
              </a:rPr>
              <a:t>Доход в бюджет.  </a:t>
            </a:r>
            <a:r>
              <a:rPr sz="1500" b="0" i="0">
                <a:solidFill>
                  <a:srgbClr val="8B9AB8"/>
                </a:solidFill>
                <a:latin typeface="Arial"/>
              </a:rPr>
              <a:t>Торговля инвентарём и налоги в казну города.</a:t>
            </a:r>
          </a:p>
        </p:txBody>
      </p:sp>
      <p:pic>
        <p:nvPicPr>
          <p:cNvPr id="7" name="Picture 6" descr="pl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874519"/>
            <a:ext cx="5212080" cy="3350622"/>
          </a:xfrm>
          <a:prstGeom prst="rect">
            <a:avLst/>
          </a:prstGeom>
          <a:ln w="15875">
            <a:solidFill>
              <a:srgbClr val="243150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847" y="0"/>
            <a:ext cx="10668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649224"/>
            <a:ext cx="310896" cy="38100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566928"/>
            <a:ext cx="7315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C107"/>
                </a:solidFill>
                <a:latin typeface="Arial"/>
              </a:rPr>
              <a:t>ПРИЗЫВ К ДЕЙСТВИЮ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10058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EAF0FA"/>
                </a:solidFill>
                <a:latin typeface="Arial"/>
              </a:rPr>
              <a:t>Дадим детям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FC107"/>
                </a:solidFill>
                <a:latin typeface="Arial"/>
              </a:rPr>
              <a:t>место для роста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611880"/>
            <a:ext cx="64008" cy="1097280"/>
          </a:xfrm>
          <a:prstGeom prst="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566160"/>
            <a:ext cx="36576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100" b="1" i="1">
                <a:solidFill>
                  <a:srgbClr val="EAF0FA"/>
                </a:solidFill>
                <a:latin typeface="Arial"/>
              </a:rPr>
              <a:t>«Скейт-парк — это инвестиция в активное будущее Южной Осетии».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212080"/>
            <a:ext cx="3108960" cy="566928"/>
          </a:xfrm>
          <a:prstGeom prst="roundRect">
            <a:avLst/>
          </a:prstGeom>
          <a:solidFill>
            <a:srgbClr val="FF5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0A0E1A"/>
                </a:solidFill>
                <a:latin typeface="Arial"/>
              </a:rPr>
              <a:t>Поддержать проект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5212080"/>
            <a:ext cx="3657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8B9AB8"/>
                </a:solidFill>
                <a:latin typeface="Arial"/>
              </a:rPr>
              <a:t>Цхинвал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